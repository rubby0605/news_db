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9EFF"/>
                </a:solidFill>
                <a:latin typeface="Arial"/>
              </a:defRPr>
            </a:pPr>
            <a:r>
              <a:t>NEWS_DB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Gemini AI Trader — Mean Edge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A"/>
                </a:solidFill>
                <a:latin typeface="Arial"/>
              </a:defRPr>
            </a:pPr>
            <a:r>
              <a:t>Real-market performance across 36 trades | 2026/02/23 - 2026/04/14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3657600" cy="45720"/>
          </a:xfrm>
          <a:prstGeom prst="rect">
            <a:avLst/>
          </a:prstGeom>
          <a:solidFill>
            <a:srgbClr val="00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AA"/>
                </a:solidFill>
                <a:latin typeface="Arial"/>
              </a:defRPr>
            </a:pPr>
            <a:r>
              <a:t>rubby0605 | github.com/rubby0605/News_DB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Powered by Gemini 2.5 Flash + Particle Model + NSGA-II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Mean Edge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MEAN EDGE /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NT$ +625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MEAN EDGE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+0.53%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TOTAL REALIZED P&amp;L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NT$ +22,504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WIN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Arial"/>
              </a:defRPr>
            </a:pPr>
            <a:r>
              <a:t>50.0%  (18W / 18L)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46888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542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PROFIT 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1.18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46888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542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RETURN ON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+2.70%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AVG 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+6.74%  (NT$ +8,025)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749039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AVG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57"/>
                </a:solidFill>
                <a:latin typeface="Arial"/>
              </a:defRPr>
            </a:pPr>
            <a:r>
              <a:t>-5.67%  (NT$ -6,775)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749039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SHARPE (PER TRADE)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Arial"/>
              </a:defRPr>
            </a:pPr>
            <a:r>
              <a:t>0.08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MAX 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7A"/>
                </a:solidFill>
                <a:latin typeface="Arial"/>
              </a:defRPr>
            </a:pPr>
            <a:r>
              <a:t>+12.85%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02920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MAX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57"/>
                </a:solidFill>
                <a:latin typeface="Arial"/>
              </a:defRPr>
            </a:pPr>
            <a:r>
              <a:t>-14.12%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5029200"/>
            <a:ext cx="34747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A"/>
                </a:solidFill>
                <a:latin typeface="Arial"/>
              </a:defRPr>
            </a:pPr>
            <a:r>
              <a:t>STD DEV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CCDD"/>
                </a:solidFill>
                <a:latin typeface="Arial"/>
              </a:defRPr>
            </a:pPr>
            <a:r>
              <a:t>6.93%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Trade-by-Trade P&amp;L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651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PnL%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PnL (NT$)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Exit Reason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華通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NT$ 200,079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+6.83%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+13,675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23時59分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(+7.5%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台達電子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NT$ 198,843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+7.82%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+15,554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2天1時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(+8.5%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鴻海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NT$ 165,606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+5.03%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+8,338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1天1時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(+5.7%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聯電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NT$ 134,391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-3.84%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-5,166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5天1時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(-3.3% &lt;= -3.0%)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群創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NT$ 143,454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-14.12%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-20,252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1天21時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(-13.6% &lt;= -3.0%)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遠東銀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NT$ 192,274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-3.69%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-7,097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9天0時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(-3.1% &lt;= -3.0%)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大立光電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NT$ 167,909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-4.88%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-8,194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6天23時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(-4.3% &lt;= -3.0%)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群創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NT$ 131,437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-3.80%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-4,999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1時30分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(-3.2% &lt;= -3.0%)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國泰金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NT$ 148,611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-7.55%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-11,222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5天1時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(-7.0% &lt;= -3.0%)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群創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NT$ 127,932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+4.86%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+6,222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3天22時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(+5.5%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力積電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NT$ 117,167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+6.38%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+7,479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1天0時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(+7.0%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華邦電子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NT$ 104,649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+6.08%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+6,358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21時58分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(+6.7%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友達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NT$ 137,446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+6.26%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+8,605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1天22時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(+6.9%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群創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NT$ 147,460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+7.52%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+11,085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1天0時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(+8.1%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力積電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NT$ 130,586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-4.09%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-5,342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2天0時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(-3.5% &lt;= -3.0%)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友達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NT$ 156,373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-5.17%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-8,082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1天2時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(-4.6% &lt;= -3.0%)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群創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NT$ 149,212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-9.93%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-14,810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2天21時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(-9.4% &lt;= -4.0%)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景碩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NT$ 155,874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+8.23%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+12,832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22時29分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(+8.9%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陽明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NT$ 123,376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-5.43%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-6,694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4天2時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(-4.9% &lt;= -4.0%)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Trade-by-Trade P&amp;L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54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PnL%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PnL (NT$)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EFF"/>
                          </a:solidFill>
                        </a:defRPr>
                      </a:pPr>
                      <a:r>
                        <a:t>Exit Reason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長榮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NT$ 174,183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-4.98%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-8,669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5天23時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(-4.4% &lt;= -4.0%)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聯電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NT$ 121,172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-7.49%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-9,071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5天23時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(-6.9% &lt;= -4.0%)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台積電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SHORT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NT$ 97,200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+1.64%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+1,594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0分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停利回補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華邦電子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-7.54%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6天0時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(-7.0% &lt;= -4.0%)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友達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NT$ 84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+12.85%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1天22時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(+13.5%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中鋼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NT$ 154,620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+10.49%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+16,221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33天2時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(+11.1%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金寶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NT$ 179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-5.04%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7天0時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(-4.5% &lt;= -4.0%)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中鋼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NT$ 85,922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-9.62%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-8,267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22時44分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停損 (-9.1% &lt;= -4.0%)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鴻海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NT$ 1,145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+4.90%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+56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23時29分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(+5.5%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友達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NT$ 65,894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+4.85%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+3,199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22時28分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(+5.5%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台達電子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NT$ 81,386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+9.98%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+8,126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1天0時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(+10.6%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瑞昱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NT$ 168,984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+5.71%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+9,646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15天23時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(+6.3%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長榮航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NT$ 138,798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-1.01%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-1,408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17天0時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Time stop (持有 17 天未獲利)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啟碁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NT$ 88,318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+7.30%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+6,449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1天0時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(+7.9% &gt;= 5.0%)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國泰金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NT$ 66,848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-0.58%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-390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20天3時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Time stop (持有 20 天未獲利)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景碩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NT$ 68,655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-3.31%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4557"/>
                          </a:solidFill>
                        </a:defRPr>
                      </a:pPr>
                      <a:r>
                        <a:t>NT$ -2,272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5天23時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Trailing stop (從高點 385 回撤 -3.2%)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王道銀行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NT$ 197,080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+4.57%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D27A"/>
                          </a:solidFill>
                        </a:defRPr>
                      </a:pPr>
                      <a:r>
                        <a:t>NT$ +9,004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50天2時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</a:defRPr>
                      </a:pPr>
                      <a:r>
                        <a:t>停利 (+5.2% &gt;= 5.0%)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486400"/>
            <a:ext cx="11247120" cy="45720"/>
          </a:xfrm>
          <a:prstGeom prst="rect">
            <a:avLst/>
          </a:prstGeom>
          <a:solidFill>
            <a:srgbClr val="00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7A"/>
                </a:solidFill>
                <a:latin typeface="Arial"/>
              </a:defRPr>
            </a:pPr>
            <a:r>
              <a:t>Total: 36 trades | Win 18 / Loss 18 | Realized P&amp;L: NT$ +22,504 | Return: +2.70%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Edge Source: Win Big, Lose Small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7A"/>
                </a:solidFill>
                <a:latin typeface="Arial"/>
              </a:defRPr>
            </a:pPr>
            <a:r>
              <a:t>Average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86421" cy="548640"/>
          </a:xfrm>
          <a:prstGeom prst="rect">
            <a:avLst/>
          </a:prstGeom>
          <a:solidFill>
            <a:srgbClr val="00D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3701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7A"/>
                </a:solidFill>
                <a:latin typeface="Arial"/>
              </a:defRPr>
            </a:pPr>
            <a:r>
              <a:t>+6.74%  (NT$ +8,025)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57"/>
                </a:solidFill>
                <a:latin typeface="Arial"/>
              </a:defRPr>
            </a:pPr>
            <a:r>
              <a:t>Average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2765416" cy="548640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2696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57"/>
                </a:solidFill>
                <a:latin typeface="Arial"/>
              </a:defRPr>
            </a:pPr>
            <a:r>
              <a:t>-5.67%  (NT$ -6,775)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89120"/>
            <a:ext cx="96012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Arial"/>
              </a:defRPr>
            </a:pPr>
            <a:r>
              <a:t>WHY 50% WIN RATE STILL MAKES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Mean Edge = (Win Rate x Avg Win) - (Loss Rate x Avg Loss)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7A"/>
                </a:solidFill>
                <a:latin typeface="Arial"/>
              </a:defRPr>
            </a:pPr>
            <a:r>
              <a:t>= (50% x +6.74%) - (50% x 5.67%) = +0.53% per 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A"/>
                </a:solidFill>
                <a:latin typeface="Arial"/>
              </a:defRPr>
            </a:pPr>
            <a:r>
              <a:t>The system doesn't need to be right more often. It needs to be right BIGGER.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Portfolio Status &amp; Top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Arial"/>
              </a:defRPr>
            </a:pPr>
            <a:r>
              <a:t>PORTFOLIO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Initial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NT$ 1,000,000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NT$ 315,884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Invested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NT$ 706,189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Realized P&amp;L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7A"/>
                </a:solidFill>
                <a:latin typeface="Arial"/>
              </a:defRPr>
            </a:pPr>
            <a:r>
              <a:t>NT$ +22,504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Current 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AA"/>
                </a:solidFill>
                <a:latin typeface="Arial"/>
              </a:defRPr>
            </a:pPr>
            <a:r>
              <a:t>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2026/02/23 - 2026/04/14 (50 days)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02920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7A"/>
                </a:solidFill>
                <a:latin typeface="Arial"/>
              </a:defRPr>
            </a:pPr>
            <a:r>
              <a:t>TOP 5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中鋼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7A"/>
                </a:solidFill>
                <a:latin typeface="Arial"/>
              </a:defRPr>
            </a:pPr>
            <a:r>
              <a:t>+10.49%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7A"/>
                </a:solidFill>
                <a:latin typeface="Arial"/>
              </a:defRPr>
            </a:pPr>
            <a:r>
              <a:t>NT$ +16,221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台達電子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7A"/>
                </a:solidFill>
                <a:latin typeface="Arial"/>
              </a:defRPr>
            </a:pPr>
            <a:r>
              <a:t>+7.82%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7A"/>
                </a:solidFill>
                <a:latin typeface="Arial"/>
              </a:defRPr>
            </a:pPr>
            <a:r>
              <a:t>NT$ +15,554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華通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7A"/>
                </a:solidFill>
                <a:latin typeface="Arial"/>
              </a:defRPr>
            </a:pPr>
            <a:r>
              <a:t>+6.83%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7A"/>
                </a:solidFill>
                <a:latin typeface="Arial"/>
              </a:defRPr>
            </a:pPr>
            <a:r>
              <a:t>NT$ +13,675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景碩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7A"/>
                </a:solidFill>
                <a:latin typeface="Arial"/>
              </a:defRPr>
            </a:pPr>
            <a:r>
              <a:t>+8.23%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7A"/>
                </a:solidFill>
                <a:latin typeface="Arial"/>
              </a:defRPr>
            </a:pPr>
            <a:r>
              <a:t>NT$ +12,832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群創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7A"/>
                </a:solidFill>
                <a:latin typeface="Arial"/>
              </a:defRPr>
            </a:pPr>
            <a:r>
              <a:t>+7.52%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7A"/>
                </a:solidFill>
                <a:latin typeface="Arial"/>
              </a:defRPr>
            </a:pPr>
            <a:r>
              <a:t>NT$ +11,085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57"/>
                </a:solidFill>
                <a:latin typeface="Arial"/>
              </a:defRPr>
            </a:pPr>
            <a:r>
              <a:t>TOP 5 LOSSES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群創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57"/>
                </a:solidFill>
                <a:latin typeface="Arial"/>
              </a:defRPr>
            </a:pPr>
            <a:r>
              <a:t>-14.12%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557"/>
                </a:solidFill>
                <a:latin typeface="Arial"/>
              </a:defRPr>
            </a:pPr>
            <a:r>
              <a:t>NT$ -20,252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群創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57"/>
                </a:solidFill>
                <a:latin typeface="Arial"/>
              </a:defRPr>
            </a:pPr>
            <a:r>
              <a:t>-9.93%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557"/>
                </a:solidFill>
                <a:latin typeface="Arial"/>
              </a:defRPr>
            </a:pPr>
            <a:r>
              <a:t>NT$ -14,810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國泰金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035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57"/>
                </a:solidFill>
                <a:latin typeface="Arial"/>
              </a:defRPr>
            </a:pPr>
            <a:r>
              <a:t>-7.55%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6035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557"/>
                </a:solidFill>
                <a:latin typeface="Arial"/>
              </a:defRPr>
            </a:pPr>
            <a:r>
              <a:t>NT$ -11,222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0292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Gemini 2.5 Flash (LLM decision engine)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623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Directional Particle Model (5,000 particles/stock)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943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NSGA-II Multi-objective Optimizer (6D)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Risk Engine (stop-loss / take-profit / trailing)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